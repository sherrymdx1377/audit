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CA0381E-0546-B5FC-D427-18596A7A9B55}" name="Neeti Bhushan" initials="NB" userId="S::neeti.bhushan@gds.ey.com::51fad6e7-201d-4092-aac9-0546ace86ecb" providerId="AD"/>
  <p188:author id="{A98E5225-A9DD-4DEE-6D2D-D16360F96AA2}" name="Neeti Bhushan" initials="NB" userId="S::Neeti.Bhushan@gds.ey.com::51fad6e7-201d-4092-aac9-0546ace86ecb" providerId="AD"/>
  <p188:author id="{A5CAE645-6FFF-E286-3BF1-9CD2A85C009F}" name="Fullproof" initials="FP" userId="Fullproof" providerId="None"/>
  <p188:author id="{4EED3F5D-E6F4-D1FB-DA18-A291A6D08195}" name="Athena Alexis E Advincula" initials="" userId="S::Athena.Alexis.E.Advincula@gds.ey.com::661487f8-14e5-41c4-b77b-213d5006be91" providerId="AD"/>
  <p188:author id="{655C446A-4FD7-71D9-64DD-E5E5C73A5220}" name="Kostas Dermitzakis" initials="KD" userId="S::kostas.dermitzakis@ch.ey.com::d4ecce04-fcab-44a8-b727-84ac57f885da" providerId="AD"/>
  <p188:author id="{FD37047C-2B44-679A-8B80-90075122D213}" name="Jordan Mayer" initials="JM" userId="S::jordan.mayer1@ey.com::30bfa211-71dd-4c5a-af8a-892f6834fe5f" providerId="AD"/>
  <p188:author id="{47E91DCC-E058-6517-F860-000197E1B6D1}" name="Richard Hilton" initials="" userId="S::Richard.Hilton@au.ey.com::50252ca4-f4b2-4d98-bd92-ea9f226596a3" providerId="AD"/>
  <p188:author id="{DC1E70D4-DDC4-8EE9-8BF6-67870D3F786F}" name="Kelly Restuccia" initials="KR" userId="S::Kelly.Restuccia@ey.com::0fc0c342-4a59-47e0-ab6e-9d934d5576cc" providerId="AD"/>
  <p188:author id="{86C482E3-3128-0ACE-CF18-B5D7E7B8FEF0}" name="Richard Hilton" initials="RH" userId="S::richard.hilton@au.ey.com::50252ca4-f4b2-4d98-bd92-ea9f226596a3" providerId="AD"/>
  <p188:author id="{E624E1E9-C46D-0E26-A409-3946858229B8}" name="Quirke, Jennifer" initials="JQ" userId="S::JQuirke@eab.com::45413355-de01-40ea-a415-421cd8e9e38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B266CC-DF57-4313-A2F8-122BE29C9A66}" v="4" dt="2024-10-30T13:40:27.601"/>
    <p1510:client id="{C23A0978-3D99-8D14-5577-A663808E2770}" v="3" dt="2024-10-30T10:03:31.3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79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B64BF-5A97-7586-22F5-1BFDB07253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269672-3571-B24A-6402-3E38EAAC2A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2179B-2366-6FDA-39B6-D886D863F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A60C5-CFDC-DB4D-B676-5793C3F9EE5B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CE33D-DAE3-CAA3-B4E2-67E017D61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C830B-33C3-37CF-A871-96372B899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B3642-0213-FE40-9AE5-48B09A325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924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C903F-B4C9-33A1-BB52-F12201683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91DD7-AEE3-4B3A-4911-4EE502F73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BE51C-9F65-778C-1371-E793D14F8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A60C5-CFDC-DB4D-B676-5793C3F9EE5B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EE8C1-2EE3-871D-D34B-5D72D0397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72AA5-49F7-AE97-DA4A-273A85E5E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B3642-0213-FE40-9AE5-48B09A325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570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6C300-D115-5984-5256-D0C428D28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782EE-5038-CD6A-1FE3-BE5839F05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DAC81-C171-9FA8-FD64-C8B9330F1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A60C5-CFDC-DB4D-B676-5793C3F9EE5B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C4DC2-6808-9FEC-DCA2-9273F86E1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920BD-0B5C-1890-09EF-8ABA3C956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B3642-0213-FE40-9AE5-48B09A325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509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CF47C-868E-DF39-1371-02FC18D01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E1164-FC5D-9164-6FFB-7E238C6260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0D056F-FC1B-D978-BD42-A6EFE01E05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D9D0D-68A0-A95B-B72B-1AEA5F999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A60C5-CFDC-DB4D-B676-5793C3F9EE5B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012B7B-6576-1AA8-EBFB-86D00CC31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0CC090-6F49-5706-5F26-74B8F83F8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B3642-0213-FE40-9AE5-48B09A325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990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FD1CE-382E-4217-D0AB-5B1469667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74587-4F26-FE08-DA9E-9BB59757D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29FC15-3564-A0F1-27CC-B15097836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9501E7-43F9-BFC7-35EA-4B57605877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E1E2EC-4954-641D-2D6F-EC192C0C36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11D348-F49E-9E7B-CBF4-71A2FF76E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A60C5-CFDC-DB4D-B676-5793C3F9EE5B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EE954D-7202-4799-677B-041EDB607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AB0B24-E086-6E06-8DF0-EDFCC4F18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B3642-0213-FE40-9AE5-48B09A325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351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D66C3-A4B2-C613-6345-6EEF4E5C0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16A24C-21F0-4CAF-4B8F-E86FDEA30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A60C5-CFDC-DB4D-B676-5793C3F9EE5B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EBB077-6EDC-F7AE-E5F6-ED9CC8B22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A72D1C-75AE-590B-3BE1-5EC4783E9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B3642-0213-FE40-9AE5-48B09A325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619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A1F020-2982-774B-0BDE-B81DE6CB3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A60C5-CFDC-DB4D-B676-5793C3F9EE5B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37739E-8A11-B37F-E25E-3D5CC0027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C8917-85AD-5C64-3E82-F0D6C394C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B3642-0213-FE40-9AE5-48B09A325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121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E1135-9228-80E1-A3A4-5CD1090B2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9139F-051A-E7F3-D3F6-A1C2F12D7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76B7BC-3AE3-7D1B-DCCC-B83154A889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E58424-1CAD-BF32-C914-A614413D1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A60C5-CFDC-DB4D-B676-5793C3F9EE5B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7E281A-CFA3-2DF5-14D8-83F0276F1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50CF3-7BCC-FF3F-A11B-17555F0C0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B3642-0213-FE40-9AE5-48B09A325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010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115CD-B688-F477-DBC3-531C9285A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67C2D7-A3A8-8BA5-F612-1B9614746A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C50E5C-17AF-8F00-C8D5-252572172C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1962F7-DBBB-AC58-2566-63393416B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A60C5-CFDC-DB4D-B676-5793C3F9EE5B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CCD2BB-EA5D-2C95-FAF8-7F0408372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FB3CD8-9EB7-AC89-FB97-D2715AE20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B3642-0213-FE40-9AE5-48B09A325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836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5DBAD-B181-3302-2DDF-C51EFC9A1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4439F2-A9D0-8D0C-E10F-44BCA0291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24EBB-59C2-FB6F-AD91-F6C406395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A60C5-CFDC-DB4D-B676-5793C3F9EE5B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4E992-58D5-B227-4C41-7857B122C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C6B4E-47D3-139A-9805-52B901F65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B3642-0213-FE40-9AE5-48B09A325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398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1D227F-A3EB-8675-D4D8-424DF99167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639F6D-CA3F-6376-E846-0F842AAB14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3379F-2C55-B711-9406-76E1EA210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A60C5-CFDC-DB4D-B676-5793C3F9EE5B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DCD3D-2686-7ADF-0CD1-0F0E1D496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8CC6D-F195-FAD7-87A2-91E771495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B3642-0213-FE40-9AE5-48B09A325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588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ECA2EF-DBF1-96AB-83BE-31027FA57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FAFED3-4D75-0FCD-0C16-66B1770FC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5C868-F88E-5957-F719-C089003771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0A60C5-CFDC-DB4D-B676-5793C3F9EE5B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23110-FFF5-1143-62CA-2AE9CA7BA9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DD2AB-15E3-0A5E-02EE-B59ACA489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6B3642-0213-FE40-9AE5-48B09A325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554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1E101-B249-5622-7717-C8A8118A02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2875" y="1142565"/>
            <a:ext cx="9806247" cy="4135437"/>
          </a:xfrm>
        </p:spPr>
        <p:txBody>
          <a:bodyPr anchor="ctr">
            <a:normAutofit fontScale="90000"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Task 4: </a:t>
            </a:r>
            <a:r>
              <a:rPr lang="en-GB" sz="3600" b="1" dirty="0">
                <a:latin typeface="Arial" panose="020B0604020202020204" pitchFamily="34" charset="0"/>
                <a:cs typeface="Arial" panose="020B0604020202020204" pitchFamily="34" charset="0"/>
              </a:rPr>
              <a:t>Execution – substantive testing</a:t>
            </a:r>
            <a:br>
              <a:rPr lang="en-GB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45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Part 1</a:t>
            </a:r>
            <a:br>
              <a:rPr lang="en-US" sz="45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45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45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45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4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4677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AFA9C77-C1C3-14A8-AC6A-F401474B2442}"/>
              </a:ext>
            </a:extLst>
          </p:cNvPr>
          <p:cNvSpPr txBox="1"/>
          <p:nvPr/>
        </p:nvSpPr>
        <p:spPr>
          <a:xfrm>
            <a:off x="4433104" y="1247733"/>
            <a:ext cx="36707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400">
                <a:latin typeface="Arial" panose="020B0604020202020204" pitchFamily="34" charset="0"/>
                <a:cs typeface="Arial" panose="020B0604020202020204" pitchFamily="34" charset="0"/>
              </a:rPr>
              <a:t>Observations </a:t>
            </a:r>
            <a:r>
              <a:rPr lang="en-GB" sz="1400" b="0" strike="noStrike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be raised with your senior: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76EF14-249C-E4D2-2C3A-74950368B247}"/>
              </a:ext>
            </a:extLst>
          </p:cNvPr>
          <p:cNvSpPr/>
          <p:nvPr/>
        </p:nvSpPr>
        <p:spPr>
          <a:xfrm>
            <a:off x="4433104" y="1555510"/>
            <a:ext cx="6154212" cy="38636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1 - Balance sheet doesn't balance (out by </a:t>
            </a:r>
            <a:r>
              <a:rPr lang="en-GB" sz="14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</a:t>
            </a:r>
            <a:r>
              <a:rPr lang="en-GB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$1m).</a:t>
            </a:r>
            <a:br>
              <a:rPr lang="en-GB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14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2 - Current assets are less than current liabilities.</a:t>
            </a:r>
            <a:br>
              <a:rPr lang="en-GB" sz="14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14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1400" i="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GB" sz="18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GB" i="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GB" sz="18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GB" i="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GB" i="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GB" sz="18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GB" i="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GB" sz="1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82A9D0-B3ED-3242-391E-6873DFE1E04B}"/>
              </a:ext>
            </a:extLst>
          </p:cNvPr>
          <p:cNvSpPr txBox="1"/>
          <p:nvPr/>
        </p:nvSpPr>
        <p:spPr>
          <a:xfrm>
            <a:off x="712592" y="296139"/>
            <a:ext cx="23351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Balance sheet as at year-end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EC6B8A5-E7A6-CB1C-AEA1-58B8487426F1}"/>
              </a:ext>
            </a:extLst>
          </p:cNvPr>
          <p:cNvSpPr txBox="1">
            <a:spLocks/>
          </p:cNvSpPr>
          <p:nvPr/>
        </p:nvSpPr>
        <p:spPr>
          <a:xfrm>
            <a:off x="4289701" y="217910"/>
            <a:ext cx="4473678" cy="4334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Balance sheet discrepancies</a:t>
            </a:r>
          </a:p>
        </p:txBody>
      </p:sp>
      <p:pic>
        <p:nvPicPr>
          <p:cNvPr id="11" name="Picture 10" descr="A table with text and numbers&#10;&#10;Description automatically generated with medium confidence">
            <a:extLst>
              <a:ext uri="{FF2B5EF4-FFF2-40B4-BE49-F238E27FC236}">
                <a16:creationId xmlns:a16="http://schemas.microsoft.com/office/drawing/2014/main" id="{197755FB-A7CC-3767-4059-8F59B79AD72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65" y="542735"/>
            <a:ext cx="2067720" cy="631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382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6F012-966D-48B6-9EEC-685DECE59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3397" y="293046"/>
            <a:ext cx="7017067" cy="755751"/>
          </a:xfrm>
        </p:spPr>
        <p:txBody>
          <a:bodyPr>
            <a:normAutofit/>
          </a:bodyPr>
          <a:lstStyle/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Number of journals posted by finance team employees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8DCDBC-29AD-7F09-A26E-A3198E23C71E}"/>
              </a:ext>
            </a:extLst>
          </p:cNvPr>
          <p:cNvSpPr/>
          <p:nvPr/>
        </p:nvSpPr>
        <p:spPr>
          <a:xfrm>
            <a:off x="7025640" y="1912810"/>
            <a:ext cx="4718180" cy="2781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>
              <a:spcAft>
                <a:spcPts val="600"/>
              </a:spcAft>
            </a:pPr>
            <a:r>
              <a:rPr lang="en-GB" sz="1400">
                <a:solidFill>
                  <a:srgbClr val="000000"/>
                </a:solidFill>
                <a:latin typeface="Arial"/>
                <a:cs typeface="Arial"/>
              </a:rPr>
              <a:t>The majority of journal entries are being prepared by employee #0978</a:t>
            </a:r>
            <a:r>
              <a:rPr lang="en-GB" sz="1400" b="0" i="0" u="none" strike="noStrike">
                <a:solidFill>
                  <a:srgbClr val="000000"/>
                </a:solidFill>
                <a:effectLst/>
                <a:latin typeface="Arial"/>
                <a:cs typeface="Arial"/>
              </a:rPr>
              <a:t> (which could indicate segregation of duties issue), although, on a positive note, </a:t>
            </a:r>
            <a:r>
              <a:rPr lang="en-GB" sz="1400">
                <a:solidFill>
                  <a:srgbClr val="000000"/>
                </a:solidFill>
                <a:latin typeface="Arial"/>
                <a:cs typeface="Arial"/>
              </a:rPr>
              <a:t>more employees prepared journal entries this year compared </a:t>
            </a:r>
            <a:r>
              <a:rPr lang="en-GB" sz="1400">
                <a:solidFill>
                  <a:schemeClr val="tx1"/>
                </a:solidFill>
                <a:latin typeface="Arial"/>
                <a:cs typeface="Arial"/>
              </a:rPr>
              <a:t>with</a:t>
            </a:r>
            <a:r>
              <a:rPr lang="en-GB" sz="1400">
                <a:solidFill>
                  <a:srgbClr val="000000"/>
                </a:solidFill>
                <a:latin typeface="Arial"/>
                <a:cs typeface="Arial"/>
              </a:rPr>
              <a:t> last year.</a:t>
            </a:r>
            <a:endParaRPr lang="en-GB" sz="1400" b="0">
              <a:solidFill>
                <a:srgbClr val="FF0000"/>
              </a:solidFill>
              <a:effectLst/>
              <a:latin typeface="Arial"/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FEE2C3-0DF3-39BC-3986-009C6DE8534F}"/>
              </a:ext>
            </a:extLst>
          </p:cNvPr>
          <p:cNvSpPr txBox="1"/>
          <p:nvPr/>
        </p:nvSpPr>
        <p:spPr>
          <a:xfrm>
            <a:off x="6935306" y="1605033"/>
            <a:ext cx="3663443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400">
                <a:latin typeface="Arial" panose="020B0604020202020204" pitchFamily="34" charset="0"/>
                <a:cs typeface="Arial" panose="020B0604020202020204" pitchFamily="34" charset="0"/>
              </a:rPr>
              <a:t>Observation</a:t>
            </a:r>
            <a:r>
              <a:rPr lang="en-GB" sz="1400" b="0" strike="noStrike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to be raised with your senior:</a:t>
            </a:r>
          </a:p>
        </p:txBody>
      </p:sp>
      <p:pic>
        <p:nvPicPr>
          <p:cNvPr id="5" name="Picture 4" descr="A graph of blue and white bars&#10;&#10;Description automatically generated with medium confidence">
            <a:extLst>
              <a:ext uri="{FF2B5EF4-FFF2-40B4-BE49-F238E27FC236}">
                <a16:creationId xmlns:a16="http://schemas.microsoft.com/office/drawing/2014/main" id="{2FD5F7DB-6268-8440-E7C5-83C8ED75CBC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683"/>
            <a:ext cx="6890139" cy="289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603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B49F6-8AC4-EF5D-3024-1451804C3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170" y="196562"/>
            <a:ext cx="9299230" cy="995747"/>
          </a:xfrm>
        </p:spPr>
        <p:txBody>
          <a:bodyPr>
            <a:normAutofit/>
          </a:bodyPr>
          <a:lstStyle/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Snapshot of key financial metrics profit and loss and balance sheet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EF9320-E86E-8B0E-4512-27E7C494AF4C}"/>
              </a:ext>
            </a:extLst>
          </p:cNvPr>
          <p:cNvSpPr/>
          <p:nvPr/>
        </p:nvSpPr>
        <p:spPr>
          <a:xfrm>
            <a:off x="5661639" y="1989198"/>
            <a:ext cx="6268728" cy="28796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mar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400" b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Revenue has decreased during the current year, but </a:t>
            </a:r>
            <a:r>
              <a:rPr lang="en-GB" sz="1400" b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Trade receivables </a:t>
            </a:r>
            <a:r>
              <a:rPr lang="en-GB" sz="1400" b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have increased.</a:t>
            </a:r>
            <a:endParaRPr lang="en-GB" sz="1400" b="0" strike="sngStrike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rtl="0">
              <a:spcBef>
                <a:spcPts val="0"/>
              </a:spcBef>
              <a:spcAft>
                <a:spcPts val="600"/>
              </a:spcAft>
              <a:buNone/>
            </a:pPr>
            <a:endParaRPr lang="en-GB" sz="1800" b="0" strike="noStrike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rtl="0">
              <a:spcBef>
                <a:spcPts val="0"/>
              </a:spcBef>
              <a:spcAft>
                <a:spcPts val="600"/>
              </a:spcAft>
              <a:buNone/>
            </a:pPr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rtl="0">
              <a:spcBef>
                <a:spcPts val="0"/>
              </a:spcBef>
              <a:spcAft>
                <a:spcPts val="600"/>
              </a:spcAft>
              <a:buNone/>
            </a:pPr>
            <a:endParaRPr lang="en-GB" sz="1800" b="0" strike="noStrike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rtl="0">
              <a:spcBef>
                <a:spcPts val="0"/>
              </a:spcBef>
              <a:spcAft>
                <a:spcPts val="600"/>
              </a:spcAft>
              <a:buNone/>
            </a:pPr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rtl="0">
              <a:spcBef>
                <a:spcPts val="0"/>
              </a:spcBef>
              <a:spcAft>
                <a:spcPts val="600"/>
              </a:spcAft>
              <a:buNone/>
            </a:pPr>
            <a:endParaRPr lang="en-GB" sz="1800" b="0" strike="noStrike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rtl="0">
              <a:spcBef>
                <a:spcPts val="0"/>
              </a:spcBef>
              <a:spcAft>
                <a:spcPts val="600"/>
              </a:spcAft>
              <a:buNone/>
            </a:pPr>
            <a:endParaRPr lang="en-GB" sz="1800" b="0" strike="noStrike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882204-8B4E-847C-1638-2132E72161D0}"/>
              </a:ext>
            </a:extLst>
          </p:cNvPr>
          <p:cNvSpPr txBox="1"/>
          <p:nvPr/>
        </p:nvSpPr>
        <p:spPr>
          <a:xfrm>
            <a:off x="5566533" y="1499967"/>
            <a:ext cx="3890131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GB" sz="1400">
                <a:latin typeface="Arial" panose="020B0604020202020204" pitchFamily="34" charset="0"/>
                <a:cs typeface="Arial" panose="020B0604020202020204" pitchFamily="34" charset="0"/>
              </a:rPr>
              <a:t>Observations to</a:t>
            </a:r>
            <a:r>
              <a:rPr lang="en-GB" sz="1400" b="0" strike="noStrike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be raised with your senior:</a:t>
            </a:r>
          </a:p>
        </p:txBody>
      </p:sp>
      <p:pic>
        <p:nvPicPr>
          <p:cNvPr id="3" name="Picture 2" descr="A table with numbers and words&#10;&#10;Description automatically generated">
            <a:extLst>
              <a:ext uri="{FF2B5EF4-FFF2-40B4-BE49-F238E27FC236}">
                <a16:creationId xmlns:a16="http://schemas.microsoft.com/office/drawing/2014/main" id="{723EC516-93E6-26D6-1707-610EA9356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9" y="2171700"/>
            <a:ext cx="5363370" cy="189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132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79B650-9119-BD5B-225B-4873D1C28F79}"/>
              </a:ext>
            </a:extLst>
          </p:cNvPr>
          <p:cNvSpPr txBox="1"/>
          <p:nvPr/>
        </p:nvSpPr>
        <p:spPr>
          <a:xfrm>
            <a:off x="330986" y="5788746"/>
            <a:ext cx="11491478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This publication contains information in summary form and is therefore intended for general guidance only. It is not intended to be a substitute for detailed research or the exercise of professional judgment. Member firms of the global EY organization cannot accept responsibility for loss to any person relying on this article. </a:t>
            </a:r>
          </a:p>
        </p:txBody>
      </p:sp>
    </p:spTree>
    <p:extLst>
      <p:ext uri="{BB962C8B-B14F-4D97-AF65-F5344CB8AC3E}">
        <p14:creationId xmlns:p14="http://schemas.microsoft.com/office/powerpoint/2010/main" val="3367110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A5699EEF10A41BECCFF49517E0F26" ma:contentTypeVersion="16" ma:contentTypeDescription="Create a new document." ma:contentTypeScope="" ma:versionID="c5c0091d255bc24eb178f81479ba2f3b">
  <xsd:schema xmlns:xsd="http://www.w3.org/2001/XMLSchema" xmlns:xs="http://www.w3.org/2001/XMLSchema" xmlns:p="http://schemas.microsoft.com/office/2006/metadata/properties" xmlns:ns2="9fa5305f-ea27-4ee8-8773-e4022fe49027" xmlns:ns3="c08a28fc-99ca-4e3f-b1dd-8ec816fa125f" xmlns:ns4="50c908b1-f277-4340-90a9-4611d0b0f078" targetNamespace="http://schemas.microsoft.com/office/2006/metadata/properties" ma:root="true" ma:fieldsID="5d3ebe63889a57650ee1e1bc282a4261" ns2:_="" ns3:_="" ns4:_="">
    <xsd:import namespace="9fa5305f-ea27-4ee8-8773-e4022fe49027"/>
    <xsd:import namespace="c08a28fc-99ca-4e3f-b1dd-8ec816fa125f"/>
    <xsd:import namespace="50c908b1-f277-4340-90a9-4611d0b0f0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4:TaxCatchAll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a5305f-ea27-4ee8-8773-e4022fe490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33ef62f9-2e07-484b-bd79-00aec90129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8a28fc-99ca-4e3f-b1dd-8ec816fa125f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c908b1-f277-4340-90a9-4611d0b0f078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7a206981-f95f-42f2-84e4-118eeb8aedbd}" ma:internalName="TaxCatchAll" ma:showField="CatchAllData" ma:web="c08a28fc-99ca-4e3f-b1dd-8ec816fa125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0c908b1-f277-4340-90a9-4611d0b0f078" xsi:nil="true"/>
    <lcf76f155ced4ddcb4097134ff3c332f xmlns="9fa5305f-ea27-4ee8-8773-e4022fe4902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828EC05-2A10-4E0F-A857-3763346C12DE}">
  <ds:schemaRefs>
    <ds:schemaRef ds:uri="50c908b1-f277-4340-90a9-4611d0b0f078"/>
    <ds:schemaRef ds:uri="9fa5305f-ea27-4ee8-8773-e4022fe49027"/>
    <ds:schemaRef ds:uri="c08a28fc-99ca-4e3f-b1dd-8ec816fa125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6247A49-2EDB-4B1B-82D0-E2D34E2C3C2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5DD5381-3E13-4E78-8A89-A99596B66853}">
  <ds:schemaRefs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50c908b1-f277-4340-90a9-4611d0b0f078"/>
    <ds:schemaRef ds:uri="9fa5305f-ea27-4ee8-8773-e4022fe49027"/>
    <ds:schemaRef ds:uri="http://schemas.microsoft.com/office/2006/metadata/properties"/>
    <ds:schemaRef ds:uri="http://purl.org/dc/elements/1.1/"/>
    <ds:schemaRef ds:uri="http://purl.org/dc/terms/"/>
    <ds:schemaRef ds:uri="http://schemas.microsoft.com/office/infopath/2007/PartnerControls"/>
    <ds:schemaRef ds:uri="c08a28fc-99ca-4e3f-b1dd-8ec816fa125f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</TotalTime>
  <Words>200</Words>
  <Application>Microsoft Office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Task 4: Execution – substantive testing  Part 1    </vt:lpstr>
      <vt:lpstr>PowerPoint Presentation</vt:lpstr>
      <vt:lpstr>Number of journals posted by finance team employees</vt:lpstr>
      <vt:lpstr>Snapshot of key financial metrics profit and loss and balance sheet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4: Execution - Substantive Testing  Part 1</dc:title>
  <dc:creator>Shaghayegh Haghbin</dc:creator>
  <cp:lastModifiedBy>Shaghayegh Haghbin [sdwh6702]</cp:lastModifiedBy>
  <cp:revision>5</cp:revision>
  <dcterms:created xsi:type="dcterms:W3CDTF">2024-03-19T11:02:58Z</dcterms:created>
  <dcterms:modified xsi:type="dcterms:W3CDTF">2025-05-02T05:37:25Z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0x010100008A5699EEF10A41BECCFF49517E0F26</vt:lpwstr>
  </property>
  <property fmtid="{D5CDD505-2E9C-101B-9397-08002B2CF9AE}" pid="3" name="MediaServiceImageTags">
    <vt:lpwstr/>
  </property>
</Properties>
</file>